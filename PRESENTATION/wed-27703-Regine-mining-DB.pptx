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94125" y="1941830"/>
            <a:ext cx="8753475" cy="1487170"/>
          </a:xfrm>
        </p:spPr>
        <p:txBody>
          <a:bodyPr/>
          <a:lstStyle/>
          <a:p>
            <a:pPr algn="l"/>
            <a:r>
              <a:rPr lang="en-US" altLang="en-US"/>
              <a:t>Mining Machines Maintenance and Tracking System</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Problem Definition</a:t>
            </a:r>
            <a:endParaRPr lang="en-US"/>
          </a:p>
        </p:txBody>
      </p:sp>
      <p:sp>
        <p:nvSpPr>
          <p:cNvPr id="3" name="Content Placeholder 2"/>
          <p:cNvSpPr>
            <a:spLocks noGrp="1"/>
          </p:cNvSpPr>
          <p:nvPr>
            <p:ph idx="1"/>
          </p:nvPr>
        </p:nvSpPr>
        <p:spPr/>
        <p:txBody>
          <a:bodyPr/>
          <a:p>
            <a:pPr marL="0" indent="0">
              <a:buNone/>
            </a:pPr>
            <a:r>
              <a:rPr lang="en-US" altLang="en-US" sz="1800">
                <a:latin typeface="Calibri" panose="020F0502020204030204" charset="0"/>
                <a:cs typeface="Calibri" panose="020F0502020204030204" charset="0"/>
              </a:rPr>
              <a:t>Mining operations rely heavily on machinery such as excavators, drills, loaders, and trucks. These machines are expensive, and their downtime directly impacts productivity and profit. Currently, the maintenance process is often manual, relying on paper logs or basic spreadsheets. This leads to:</a:t>
            </a:r>
            <a:endParaRPr lang="en-US" altLang="en-US" sz="1800">
              <a:latin typeface="Calibri" panose="020F0502020204030204" charset="0"/>
              <a:cs typeface="Calibri" panose="020F0502020204030204" charset="0"/>
            </a:endParaRPr>
          </a:p>
          <a:p>
            <a:pPr marL="0" indent="0">
              <a:buNone/>
            </a:pP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Missed or delayed maintenance schedules.</a:t>
            </a:r>
            <a:endParaRPr lang="en-US" altLang="en-US" sz="1800">
              <a:latin typeface="Calibri" panose="020F0502020204030204" charset="0"/>
              <a:cs typeface="Calibri" panose="020F0502020204030204" charset="0"/>
            </a:endParaRPr>
          </a:p>
          <a:p>
            <a:pPr marL="0" indent="0">
              <a:buNone/>
            </a:pPr>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Inaccurate tracking of equipment usage and performance</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Difficulty identifying recurring faults or operational inefficiencies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Increased repair costs and unplanned downtime</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pPr marL="0" indent="0">
              <a:buNone/>
            </a:pPr>
            <a:r>
              <a:rPr lang="en-US" altLang="en-US" sz="1800" b="1">
                <a:latin typeface="Calibri" panose="020F0502020204030204" charset="0"/>
                <a:cs typeface="Calibri" panose="020F0502020204030204" charset="0"/>
              </a:rPr>
              <a:t>Problem Statement:</a:t>
            </a:r>
            <a:endParaRPr lang="en-US" altLang="en-US" sz="1800" b="1">
              <a:latin typeface="Calibri" panose="020F0502020204030204" charset="0"/>
              <a:cs typeface="Calibri" panose="020F0502020204030204" charset="0"/>
            </a:endParaRPr>
          </a:p>
          <a:p>
            <a:pPr marL="0" indent="0">
              <a:buNone/>
            </a:pPr>
            <a:r>
              <a:rPr lang="en-US" altLang="en-US" sz="1800">
                <a:latin typeface="Calibri" panose="020F0502020204030204" charset="0"/>
                <a:cs typeface="Calibri" panose="020F0502020204030204" charset="0"/>
              </a:rPr>
              <a:t>There is a need for an automated, digital system to track mining machine status, schedule maintenance, and log repairs, ensuring machines are operational, maintenance is timely, and performance data is easily accessible for decision-making.</a:t>
            </a:r>
            <a:endParaRPr lang="en-US" altLang="en-US" sz="1800">
              <a:latin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Context</a:t>
            </a:r>
            <a:endParaRPr lang="en-US"/>
          </a:p>
        </p:txBody>
      </p:sp>
      <p:sp>
        <p:nvSpPr>
          <p:cNvPr id="3" name="Content Placeholder 2"/>
          <p:cNvSpPr>
            <a:spLocks noGrp="1"/>
          </p:cNvSpPr>
          <p:nvPr>
            <p:ph idx="1"/>
          </p:nvPr>
        </p:nvSpPr>
        <p:spPr/>
        <p:txBody>
          <a:bodyPr/>
          <a:p>
            <a:r>
              <a:rPr lang="en-US" altLang="en-US" sz="1800">
                <a:latin typeface="Calibri" panose="020F0502020204030204" charset="0"/>
                <a:cs typeface="Calibri" panose="020F0502020204030204" charset="0"/>
              </a:rPr>
              <a:t>The system will be used onsite at mining operations, accessible via computers in the control room and potentially mobile devices for field technicians. Key use cases include:</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Logging machine usage and operational hours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Scheduling preventive maintenance and alerts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Recording maintenance activities and parts replacement</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Tracking machine downtime and repair costs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a:latin typeface="Calibri" panose="020F0502020204030204" charset="0"/>
                <a:cs typeface="Calibri" panose="020F0502020204030204" charset="0"/>
              </a:rPr>
              <a:t>It may also integrate with other enterprise systems such as inventory management (for spare parts) and production tracking.</a:t>
            </a:r>
            <a:endParaRPr lang="en-US" altLang="en-US" sz="1800">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Targeted Users</a:t>
            </a:r>
            <a:endParaRPr lang="en-US"/>
          </a:p>
        </p:txBody>
      </p:sp>
      <p:sp>
        <p:nvSpPr>
          <p:cNvPr id="3" name="Content Placeholder 2"/>
          <p:cNvSpPr>
            <a:spLocks noGrp="1"/>
          </p:cNvSpPr>
          <p:nvPr>
            <p:ph idx="1"/>
          </p:nvPr>
        </p:nvSpPr>
        <p:spPr/>
        <p:txBody>
          <a:bodyPr/>
          <a:p>
            <a:r>
              <a:rPr lang="en-US" altLang="en-US" sz="2300" b="1">
                <a:latin typeface="Calibri" panose="020F0502020204030204" charset="0"/>
                <a:cs typeface="Calibri" panose="020F0502020204030204" charset="0"/>
              </a:rPr>
              <a:t>Maintenance Technicians: </a:t>
            </a:r>
            <a:r>
              <a:rPr lang="en-US" altLang="en-US" sz="2300">
                <a:latin typeface="Calibri" panose="020F0502020204030204" charset="0"/>
                <a:cs typeface="Calibri" panose="020F0502020204030204" charset="0"/>
              </a:rPr>
              <a:t>Receive alerts for upcoming maintenance and log performed tasks.</a:t>
            </a:r>
            <a:endParaRPr lang="en-US" altLang="en-US" sz="2300">
              <a:latin typeface="Calibri" panose="020F0502020204030204" charset="0"/>
              <a:cs typeface="Calibri" panose="020F0502020204030204" charset="0"/>
            </a:endParaRPr>
          </a:p>
          <a:p>
            <a:endParaRPr lang="en-US" altLang="en-US" sz="2300">
              <a:latin typeface="Calibri" panose="020F0502020204030204" charset="0"/>
              <a:cs typeface="Calibri" panose="020F0502020204030204" charset="0"/>
            </a:endParaRPr>
          </a:p>
          <a:p>
            <a:r>
              <a:rPr lang="en-US" altLang="en-US" sz="2300" b="1">
                <a:latin typeface="Calibri" panose="020F0502020204030204" charset="0"/>
                <a:cs typeface="Calibri" panose="020F0502020204030204" charset="0"/>
              </a:rPr>
              <a:t>Operations Managers:</a:t>
            </a:r>
            <a:r>
              <a:rPr lang="en-US" altLang="en-US" sz="2300">
                <a:latin typeface="Calibri" panose="020F0502020204030204" charset="0"/>
                <a:cs typeface="Calibri" panose="020F0502020204030204" charset="0"/>
              </a:rPr>
              <a:t> Monitor machine availability, downtime, and maintenance efficiency.</a:t>
            </a:r>
            <a:endParaRPr lang="en-US" altLang="en-US" sz="2300">
              <a:latin typeface="Calibri" panose="020F0502020204030204" charset="0"/>
              <a:cs typeface="Calibri" panose="020F0502020204030204" charset="0"/>
            </a:endParaRPr>
          </a:p>
          <a:p>
            <a:endParaRPr lang="en-US" altLang="en-US" sz="2300">
              <a:latin typeface="Calibri" panose="020F0502020204030204" charset="0"/>
              <a:cs typeface="Calibri" panose="020F0502020204030204" charset="0"/>
            </a:endParaRPr>
          </a:p>
          <a:p>
            <a:r>
              <a:rPr lang="en-US" altLang="en-US" sz="2300" b="1">
                <a:latin typeface="Calibri" panose="020F0502020204030204" charset="0"/>
                <a:cs typeface="Calibri" panose="020F0502020204030204" charset="0"/>
              </a:rPr>
              <a:t>Mining Supervisors:</a:t>
            </a:r>
            <a:r>
              <a:rPr lang="en-US" altLang="en-US" sz="2300">
                <a:latin typeface="Calibri" panose="020F0502020204030204" charset="0"/>
                <a:cs typeface="Calibri" panose="020F0502020204030204" charset="0"/>
              </a:rPr>
              <a:t> Plan production schedules based on equipment readiness.</a:t>
            </a:r>
            <a:endParaRPr lang="en-US" altLang="en-US" sz="2300">
              <a:latin typeface="Calibri" panose="020F0502020204030204" charset="0"/>
              <a:cs typeface="Calibri" panose="020F0502020204030204" charset="0"/>
            </a:endParaRPr>
          </a:p>
          <a:p>
            <a:endParaRPr lang="en-US" altLang="en-US" sz="2300">
              <a:latin typeface="Calibri" panose="020F0502020204030204" charset="0"/>
              <a:cs typeface="Calibri" panose="020F0502020204030204" charset="0"/>
            </a:endParaRPr>
          </a:p>
          <a:p>
            <a:r>
              <a:rPr lang="en-US" altLang="en-US" sz="2300" b="1">
                <a:latin typeface="Calibri" panose="020F0502020204030204" charset="0"/>
                <a:cs typeface="Calibri" panose="020F0502020204030204" charset="0"/>
              </a:rPr>
              <a:t>Finance/Procurement Teams:</a:t>
            </a:r>
            <a:r>
              <a:rPr lang="en-US" altLang="en-US" sz="2300">
                <a:latin typeface="Calibri" panose="020F0502020204030204" charset="0"/>
                <a:cs typeface="Calibri" panose="020F0502020204030204" charset="0"/>
              </a:rPr>
              <a:t> Track maintenance costs, spare part usage, and budget needs.</a:t>
            </a:r>
            <a:endParaRPr lang="en-US" altLang="en-US" sz="2300">
              <a:latin typeface="Calibri" panose="020F0502020204030204" charset="0"/>
              <a:cs typeface="Calibri" panose="020F0502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4. Project Goals</a:t>
            </a:r>
            <a:endParaRPr lang="en-US"/>
          </a:p>
        </p:txBody>
      </p:sp>
      <p:sp>
        <p:nvSpPr>
          <p:cNvPr id="3" name="Content Placeholder 2"/>
          <p:cNvSpPr>
            <a:spLocks noGrp="1"/>
          </p:cNvSpPr>
          <p:nvPr>
            <p:ph idx="1"/>
          </p:nvPr>
        </p:nvSpPr>
        <p:spPr/>
        <p:txBody>
          <a:bodyPr/>
          <a:p>
            <a:pPr marL="0" indent="0">
              <a:buNone/>
            </a:pPr>
            <a:r>
              <a:rPr lang="en-US" altLang="en-US" sz="2000">
                <a:latin typeface="Calibri" panose="020F0502020204030204" charset="0"/>
                <a:cs typeface="Calibri" panose="020F0502020204030204" charset="0"/>
              </a:rPr>
              <a:t>The system aims to:</a:t>
            </a:r>
            <a:endParaRPr lang="en-US" altLang="en-US" sz="2000">
              <a:latin typeface="Calibri" panose="020F0502020204030204" charset="0"/>
              <a:cs typeface="Calibri" panose="020F0502020204030204" charset="0"/>
            </a:endParaRPr>
          </a:p>
          <a:p>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Reduce Downtime:</a:t>
            </a:r>
            <a:r>
              <a:rPr lang="en-US" altLang="en-US" sz="2000">
                <a:latin typeface="Calibri" panose="020F0502020204030204" charset="0"/>
                <a:cs typeface="Calibri" panose="020F0502020204030204" charset="0"/>
              </a:rPr>
              <a:t> Ensure maintenance is performed proactively to prevent breakdowns.</a:t>
            </a:r>
            <a:endParaRPr lang="en-US" altLang="en-US" sz="2000">
              <a:latin typeface="Calibri" panose="020F0502020204030204" charset="0"/>
              <a:cs typeface="Calibri" panose="020F0502020204030204" charset="0"/>
            </a:endParaRPr>
          </a:p>
          <a:p>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Enhance Equipment Longevity: </a:t>
            </a:r>
            <a:r>
              <a:rPr lang="en-US" altLang="en-US" sz="2000">
                <a:latin typeface="Calibri" panose="020F0502020204030204" charset="0"/>
                <a:cs typeface="Calibri" panose="020F0502020204030204" charset="0"/>
              </a:rPr>
              <a:t>Proper maintenance extends the lifespan of machines.</a:t>
            </a:r>
            <a:endParaRPr lang="en-US" altLang="en-US" sz="2000">
              <a:latin typeface="Calibri" panose="020F0502020204030204" charset="0"/>
              <a:cs typeface="Calibri" panose="020F0502020204030204" charset="0"/>
            </a:endParaRPr>
          </a:p>
          <a:p>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Increase Operational Efficiency:</a:t>
            </a:r>
            <a:r>
              <a:rPr lang="en-US" altLang="en-US" sz="2000">
                <a:latin typeface="Calibri" panose="020F0502020204030204" charset="0"/>
                <a:cs typeface="Calibri" panose="020F0502020204030204" charset="0"/>
              </a:rPr>
              <a:t> Real-time tracking of equipment status improves production planning.</a:t>
            </a:r>
            <a:endParaRPr lang="en-US" altLang="en-US" sz="2000">
              <a:latin typeface="Calibri" panose="020F0502020204030204" charset="0"/>
              <a:cs typeface="Calibri" panose="020F0502020204030204" charset="0"/>
            </a:endParaRPr>
          </a:p>
          <a:p>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Automate Reporting:</a:t>
            </a:r>
            <a:r>
              <a:rPr lang="en-US" altLang="en-US" sz="2000">
                <a:latin typeface="Calibri" panose="020F0502020204030204" charset="0"/>
                <a:cs typeface="Calibri" panose="020F0502020204030204" charset="0"/>
              </a:rPr>
              <a:t> Generate maintenance logs, machine performance reports, and cost analysis.</a:t>
            </a:r>
            <a:endParaRPr lang="en-US" altLang="en-US" sz="2000">
              <a:latin typeface="Calibri" panose="020F0502020204030204" charset="0"/>
              <a:cs typeface="Calibri" panose="020F0502020204030204" charset="0"/>
            </a:endParaRPr>
          </a:p>
          <a:p>
            <a:endParaRPr lang="en-US" altLang="en-US" sz="2000">
              <a:latin typeface="Calibri" panose="020F0502020204030204" charset="0"/>
              <a:cs typeface="Calibri" panose="020F0502020204030204" charset="0"/>
            </a:endParaRPr>
          </a:p>
          <a:p>
            <a:r>
              <a:rPr lang="en-US" altLang="en-US" sz="2000" b="1">
                <a:latin typeface="Calibri" panose="020F0502020204030204" charset="0"/>
                <a:cs typeface="Calibri" panose="020F0502020204030204" charset="0"/>
              </a:rPr>
              <a:t>Improve Resource Management:</a:t>
            </a:r>
            <a:r>
              <a:rPr lang="en-US" altLang="en-US" sz="2000">
                <a:latin typeface="Calibri" panose="020F0502020204030204" charset="0"/>
                <a:cs typeface="Calibri" panose="020F0502020204030204" charset="0"/>
              </a:rPr>
              <a:t> Optimize the use of spare parts and maintenance workforce.</a:t>
            </a:r>
            <a:endParaRPr lang="en-US" altLang="en-US" sz="200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5. BI Potential</a:t>
            </a:r>
            <a:endParaRPr lang="en-US"/>
          </a:p>
        </p:txBody>
      </p:sp>
      <p:sp>
        <p:nvSpPr>
          <p:cNvPr id="3" name="Content Placeholder 2"/>
          <p:cNvSpPr>
            <a:spLocks noGrp="1"/>
          </p:cNvSpPr>
          <p:nvPr>
            <p:ph idx="1"/>
          </p:nvPr>
        </p:nvSpPr>
        <p:spPr/>
        <p:txBody>
          <a:bodyPr/>
          <a:p>
            <a:pPr marL="0" indent="0">
              <a:buNone/>
            </a:pPr>
            <a:r>
              <a:rPr lang="en-US" altLang="en-US" sz="1800">
                <a:latin typeface="Calibri" panose="020F0502020204030204" charset="0"/>
                <a:cs typeface="Calibri" panose="020F0502020204030204" charset="0"/>
              </a:rPr>
              <a:t>Integrating Business Intelligence (BI) into the system allows for advanced analytics that can guide strategic decisions: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rPr>
              <a:t>Predictive Maintenance:</a:t>
            </a:r>
            <a:r>
              <a:rPr lang="en-US" altLang="en-US" sz="1800">
                <a:latin typeface="Calibri" panose="020F0502020204030204" charset="0"/>
                <a:cs typeface="Calibri" panose="020F0502020204030204" charset="0"/>
              </a:rPr>
              <a:t> Use historical data to forecast potential failures before they occur.</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rPr>
              <a:t>Performance Analysis:</a:t>
            </a:r>
            <a:r>
              <a:rPr lang="en-US" altLang="en-US" sz="1800">
                <a:latin typeface="Calibri" panose="020F0502020204030204" charset="0"/>
                <a:cs typeface="Calibri" panose="020F0502020204030204" charset="0"/>
              </a:rPr>
              <a:t> Identify machines that are underperforming or consuming excessive resources.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rPr>
              <a:t>Cost Optimization:</a:t>
            </a:r>
            <a:r>
              <a:rPr lang="en-US" altLang="en-US" sz="1800">
                <a:latin typeface="Calibri" panose="020F0502020204030204" charset="0"/>
                <a:cs typeface="Calibri" panose="020F0502020204030204" charset="0"/>
              </a:rPr>
              <a:t> Track maintenance spending and analyze which machines incur higher repair costs.</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rPr>
              <a:t>Downtime Trends:</a:t>
            </a:r>
            <a:r>
              <a:rPr lang="en-US" altLang="en-US" sz="1800">
                <a:latin typeface="Calibri" panose="020F0502020204030204" charset="0"/>
                <a:cs typeface="Calibri" panose="020F0502020204030204" charset="0"/>
              </a:rPr>
              <a:t> Visual dashboards can highlight patterns in machine failure by type, operator, or location.</a:t>
            </a:r>
            <a:endParaRPr lang="en-US" altLang="en-US" sz="1800">
              <a:latin typeface="Calibri" panose="020F0502020204030204" charset="0"/>
              <a:cs typeface="Calibri" panose="020F0502020204030204" charset="0"/>
            </a:endParaRPr>
          </a:p>
          <a:p>
            <a:endParaRPr lang="en-US" altLang="en-US" sz="1800">
              <a:latin typeface="Calibri" panose="020F0502020204030204" charset="0"/>
              <a:cs typeface="Calibri" panose="020F0502020204030204" charset="0"/>
            </a:endParaRPr>
          </a:p>
          <a:p>
            <a:r>
              <a:rPr lang="en-US" altLang="en-US" sz="1800" b="1">
                <a:latin typeface="Calibri" panose="020F0502020204030204" charset="0"/>
                <a:cs typeface="Calibri" panose="020F0502020204030204" charset="0"/>
              </a:rPr>
              <a:t>Operational Planning: </a:t>
            </a:r>
            <a:r>
              <a:rPr lang="en-US" altLang="en-US" sz="1800">
                <a:latin typeface="Calibri" panose="020F0502020204030204" charset="0"/>
                <a:cs typeface="Calibri" panose="020F0502020204030204" charset="0"/>
              </a:rPr>
              <a:t>Correlate machine availability with production output to improve scheduling and reduce bottlenecks.</a:t>
            </a:r>
            <a:endParaRPr lang="en-US" altLang="en-US" sz="1800">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t>                         </a:t>
            </a:r>
            <a:endParaRPr lang="en-US"/>
          </a:p>
          <a:p>
            <a:pPr marL="0" indent="0">
              <a:buNone/>
            </a:pPr>
            <a:endParaRPr lang="en-US"/>
          </a:p>
          <a:p>
            <a:pPr marL="0" indent="0">
              <a:buNone/>
            </a:pPr>
            <a:endParaRPr lang="en-US"/>
          </a:p>
          <a:p>
            <a:pPr marL="0" indent="0">
              <a:buNone/>
            </a:pPr>
            <a:r>
              <a:rPr lang="en-US"/>
              <a:t>                                  THANK YOU!</a:t>
            </a:r>
            <a:endParaRPr lang="en-US"/>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2879</Words>
  <Application>WPS Presentation</Application>
  <PresentationFormat>Widescreen</PresentationFormat>
  <Paragraphs>74</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Calibri Light</vt:lpstr>
      <vt:lpstr>Calibri</vt:lpstr>
      <vt:lpstr>Microsoft YaHei</vt:lpstr>
      <vt:lpstr>Arial Unicode MS</vt:lpstr>
      <vt:lpstr>Gear Drives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Regine pacis Igihozo</cp:lastModifiedBy>
  <cp:revision>3</cp:revision>
  <dcterms:created xsi:type="dcterms:W3CDTF">2025-07-23T00:59:00Z</dcterms:created>
  <dcterms:modified xsi:type="dcterms:W3CDTF">2025-12-07T18:33:13Z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7CFB60E539444B928B18857FA8ADB108_11</vt:lpwstr>
  </property>
  <property fmtid="{D5CDD505-2E9C-101B-9397-08002B2CF9AE}" pid="3" name="KSOProductBuildVer">
    <vt:lpwstr>1033-12.2.0.23155</vt:lpwstr>
  </property>
</Properties>
</file>